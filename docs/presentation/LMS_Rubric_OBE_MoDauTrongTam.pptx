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bằng câu hỏi: Một sinh viên đạt 8 điểm. Nhưng 8 điểm đó chứng minh em ấy đạt chuẩn đầu ra nào, ở mức nào, và dựa trên bằng chứng nào?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Dừng 2 giây sau khi hiện “8.0”. Sau đó hỏi lần lượt bốn câu bên phải. Chốt: nếu không trả lời được, dữ liệu điểm chưa đủ phục vụ 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dùng số liệu khảo sát nếu chưa có dữ liệu gốc. Trình bày nhu cầu dưới dạng yêu cầu nghiệp vụ và lợi ích cho ba nhóm người dùng.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đây là bài toán dữ liệu và kiểm soát vòng đời, không chỉ là bài toán giao diện.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chuyển đoạn. Có thể nói: Từ câu hỏi này, nhóm lựa chọn Rubric phân tích và thiết kế chuỗi bằng chứng số hóa.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câu trả lời ngắn gọn nhất của đề tài. Hãy mô tả từ trái sang phải, tránh đi sâu công nghệ ở slide này.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Nếu thời gian ngắn, chỉ điểm qua khối bên trái trong 15–20 giây. Dành phần nói chính cho bốn chức năng bên phải.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Dùng slide này làm bản đồ cho phần demo: đi từ bước 1 đến bước 6, mỗi màn hình demo phải gắn với một bước.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bằng ví dụ: tiêu chí thay đổi ở học kỳ sau thì kết quả học kỳ trước vẫn trỏ về phiên bản cũ.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cần chứng minh công thức dài trên slide. Chỉ giải thích luồng biến đổi và ba nguyên tắc. Nếu hội đồng hỏi sâu, mở phụ lục công thức.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Không kể tên công nghệ như danh sách. Mỗi thành phần phải gắn với một lý do: Gateway cho điểm vào chung; service ownership cho ranh giới dữ liệu; Eureka cho định vị dịch vụ.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dẫn vào demo thật. Nếu demo lỗi, dùng chính slide này để kể lại luồng và vẫn giữ được mạch lập luận.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Điểm cộng ở slide này là sự trung thực. Nếu một chức năng đã được nhóm hoàn thiện sau tài liệu, cập nhật cột tương ứng trước khi bảo vệ.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trả lời câu hỏi “đề tài của em mới/đáng giá ở đâu?”. Chốt bằng chuyển dịch từ quản lý hoạt động sang quản lý bằng chứng.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Quay lại đúng câu hỏi ở slide 2. Kết thúc trong một câu, sau đó dừng và mời Hội đồng đặt câu hỏi.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65379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84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LMS • RUBRIC • OBE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55480" y="653796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4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ĐỒ ÁN TỐT NGHIỆP  | 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7955280" y="-1097280"/>
            <a:ext cx="5303520" cy="5303520"/>
          </a:xfrm>
          <a:prstGeom prst="arc">
            <a:avLst/>
          </a:prstGeom>
          <a:solidFill>
            <a:srgbClr val="2856D6">
              <a:alpha val="35000"/>
            </a:srgbClr>
          </a:solidFill>
          <a:ln w="12700">
            <a:solidFill>
              <a:srgbClr val="2856D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000000">
            <a:off x="8595360" y="3108960"/>
            <a:ext cx="4023360" cy="4023360"/>
          </a:xfrm>
          <a:prstGeom prst="arc">
            <a:avLst/>
          </a:prstGeom>
          <a:solidFill>
            <a:srgbClr val="0F9D8A">
              <a:alpha val="30000"/>
            </a:srgbClr>
          </a:solidFill>
          <a:ln w="12700">
            <a:solidFill>
              <a:srgbClr val="0F9D8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676656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 w="12700">
            <a:solidFill>
              <a:srgbClr val="142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740664"/>
            <a:ext cx="2093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ĐỒ ÁN TỐT NGHIỆP •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" y="1353312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Từ một con điểm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đến bằng chứng đạt chuẩn đầu ra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49808" y="3246120"/>
            <a:ext cx="7040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7DE"/>
                </a:solidFill>
              </a:rPr>
              <a:t>Thiết kế LMS hỗ trợ đánh giá theo Rubric gắn với CLO/OBE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49808" y="4050792"/>
            <a:ext cx="6309360" cy="0"/>
          </a:xfrm>
          <a:prstGeom prst="line">
            <a:avLst/>
          </a:prstGeom>
          <a:noFill/>
          <a:ln w="12700">
            <a:solidFill>
              <a:srgbClr val="3141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427939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2BF"/>
                </a:solidFill>
              </a:rPr>
              <a:t>SINH VIÊN: [HỌ VÀ TÊN]     •     GVHD: [HỌ VÀ TÊN]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909560" y="1097280"/>
            <a:ext cx="1353312" cy="576072"/>
          </a:xfrm>
          <a:prstGeom prst="roundRect">
            <a:avLst>
              <a:gd name="adj" fmla="val 19048"/>
            </a:avLst>
          </a:prstGeom>
          <a:solidFill>
            <a:srgbClr val="15243B"/>
          </a:solidFill>
          <a:ln w="12700">
            <a:solidFill>
              <a:srgbClr val="1524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09560" y="128016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BÀI LÀM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586216" y="1691640"/>
            <a:ext cx="1572768" cy="27432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482328" y="1965960"/>
            <a:ext cx="1353312" cy="576072"/>
          </a:xfrm>
          <a:prstGeom prst="roundRect">
            <a:avLst>
              <a:gd name="adj" fmla="val 19048"/>
            </a:avLst>
          </a:prstGeom>
          <a:solidFill>
            <a:srgbClr val="15243B"/>
          </a:solidFill>
          <a:ln w="12700">
            <a:solidFill>
              <a:srgbClr val="1524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82328" y="214884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TIÊU CHÍ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158984" y="2560320"/>
            <a:ext cx="-1572768" cy="27432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9560" y="2834640"/>
            <a:ext cx="1353312" cy="576072"/>
          </a:xfrm>
          <a:prstGeom prst="roundRect">
            <a:avLst>
              <a:gd name="adj" fmla="val 19048"/>
            </a:avLst>
          </a:prstGeom>
          <a:solidFill>
            <a:srgbClr val="15243B"/>
          </a:solidFill>
          <a:ln w="12700">
            <a:solidFill>
              <a:srgbClr val="1524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301752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RUBRIC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586216" y="3429000"/>
            <a:ext cx="1572768" cy="27432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482328" y="3703320"/>
            <a:ext cx="1353312" cy="576072"/>
          </a:xfrm>
          <a:prstGeom prst="roundRect">
            <a:avLst>
              <a:gd name="adj" fmla="val 19048"/>
            </a:avLst>
          </a:prstGeom>
          <a:solidFill>
            <a:srgbClr val="15243B"/>
          </a:solidFill>
          <a:ln w="12700">
            <a:solidFill>
              <a:srgbClr val="1524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82328" y="388620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58984" y="4297680"/>
            <a:ext cx="-1572768" cy="27432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909560" y="4572000"/>
            <a:ext cx="1353312" cy="576072"/>
          </a:xfrm>
          <a:prstGeom prst="roundRect">
            <a:avLst>
              <a:gd name="adj" fmla="val 19048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475488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OBE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01 • VẤN ĐỀ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Một con điểm chưa trả lời được câu hỏi quan trọng nhất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Điểm tổng cho biết kết quả cuối — nhưng có thể che khuất năng lực thành phần.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749040" cy="3520440"/>
          </a:xfrm>
          <a:prstGeom prst="roundRect">
            <a:avLst>
              <a:gd name="adj" fmla="val 3117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249424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</a:rPr>
              <a:t>8.0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1207008" y="38587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AFC2E4"/>
                </a:solidFill>
              </a:rPr>
              <a:t>ĐIỂM HỌC PHẦN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44165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EA5E9"/>
                </a:solidFill>
              </a:rPr>
              <a:t>Có vẻ rõ ràng…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92040" y="1993392"/>
            <a:ext cx="2926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93208" y="2267712"/>
            <a:ext cx="502920" cy="502920"/>
          </a:xfrm>
          <a:prstGeom prst="ellipse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93208" y="23591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69864" y="23500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Đạt CLO nào?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02168" y="1993392"/>
            <a:ext cx="2926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03336" y="2267712"/>
            <a:ext cx="502920" cy="502920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03336" y="23591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079992" y="235000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Yếu ở tiêu chí nào?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92040" y="3566160"/>
            <a:ext cx="2926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3208" y="3840480"/>
            <a:ext cx="502920" cy="502920"/>
          </a:xfrm>
          <a:prstGeom prst="ellipse">
            <a:avLst/>
          </a:prstGeom>
          <a:solidFill>
            <a:srgbClr val="7F56D9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3208" y="3931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69864" y="392277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Ai đã duyệt thang đo?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202168" y="3566160"/>
            <a:ext cx="29260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03336" y="3840480"/>
            <a:ext cx="502920" cy="50292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3336" y="3931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?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079992" y="3922776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Có truy ngược được không?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19472" y="4983480"/>
            <a:ext cx="6199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92D20"/>
                </a:solidFill>
              </a:rPr>
              <a:t>Khoảng trống của LMS không nằm ở việc “có điểm”, mà ở việc biến điểm thành bằng chứng có ý nghĩa.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66928" y="62819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992A3"/>
                </a:solidFill>
              </a:rPr>
              <a:t>Cơ sở: CHUONG_3_GIAI_PHAP_HIEU_CHINH.md — mục 3.2.2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02 • TÍNH CẤP THIẾT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Vì sao hệ thống này cần thiết ngay từ quy trình đánh giá?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Một LMS phục vụ OBE phải đồng thời tạo giá trị cho người học, giảng viên và đơn vị quản lý.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401568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3055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56D6"/>
                </a:solidFill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2670048"/>
            <a:ext cx="2697480" cy="0"/>
          </a:xfrm>
          <a:prstGeom prst="line">
            <a:avLst/>
          </a:prstGeom>
          <a:noFill/>
          <a:ln w="38100">
            <a:solidFill>
              <a:srgbClr val="2856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077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Người học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78892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Biết trước tiêu chuẩn chất lượng; nhận phản hồi cụ thể theo từng tiêu chí.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25696" y="1874520"/>
            <a:ext cx="3401568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81728" y="213055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9009"/>
                </a:solidFill>
              </a:rPr>
              <a:t>02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681728" y="2670048"/>
            <a:ext cx="2697480" cy="0"/>
          </a:xfrm>
          <a:prstGeom prst="line">
            <a:avLst/>
          </a:prstGeom>
          <a:noFill/>
          <a:ln w="38100">
            <a:solidFill>
              <a:srgbClr val="F790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29077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Giảng viên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81728" y="3474720"/>
            <a:ext cx="278892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Chấm nhất quán hơn; giảm tổng hợp thủ công; thấy rõ điểm mạnh/yếu.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93024" y="1874520"/>
            <a:ext cx="3401568" cy="3310128"/>
          </a:xfrm>
          <a:prstGeom prst="roundRect">
            <a:avLst>
              <a:gd name="adj" fmla="val 331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213055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9D8A"/>
                </a:solidFill>
              </a:rPr>
              <a:t>03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8449056" y="2670048"/>
            <a:ext cx="2697480" cy="0"/>
          </a:xfrm>
          <a:prstGeom prst="line">
            <a:avLst/>
          </a:prstGeom>
          <a:noFill/>
          <a:ln w="38100">
            <a:solidFill>
              <a:srgbClr val="0F9D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49056" y="29077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1828"/>
                </a:solidFill>
              </a:rPr>
              <a:t>Bộ môn / Khoa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49056" y="3474720"/>
            <a:ext cx="2788920" cy="1078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Có dữ liệu trực tiếp về mức đạt CLO để theo dõi và cải tiến chương trình.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316736" y="5513832"/>
            <a:ext cx="9464040" cy="530352"/>
          </a:xfrm>
          <a:prstGeom prst="roundRect">
            <a:avLst>
              <a:gd name="adj" fmla="val 20690"/>
            </a:avLst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72768" y="566928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56D6"/>
                </a:solidFill>
              </a:rPr>
              <a:t>Nhu cầu cốt lõi: liên kết chuẩn đầu ra ↔ hoạt động đánh giá ↔ minh chứng, thay vì lưu chúng thành các mảnh rời.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66928" y="62819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992A3"/>
                </a:solidFill>
              </a:rPr>
              <a:t>Cơ sở: constructive alignment và yêu cầu OBE trong tài liệu giải pháp của dự án.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03 • ĐIỂM KHÓ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Bài toán khó không phải là vẽ một bảng Rubric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Khó ở việc giữ cho toàn bộ chuỗi dữ liệu đúng, nhất quán và truy nguyên được qua thời gian.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10512"/>
            <a:ext cx="518464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0665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79009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0391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Chuẩn hóa thang đo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505456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Tiêu chí có trọng số, mức điểm và mô tả khác nhau; tổng trọng số phải hợp lệ.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2784" y="1810512"/>
            <a:ext cx="518464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1384" y="20665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56D9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05472" y="20391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Ánh xạ nhiều–nhiều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205472" y="2505456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Một tiêu chí có thể đo nhiều CLO; nếu phân bổ sai sẽ tính lặp minh chứng.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3685032"/>
            <a:ext cx="518464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94106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2D20"/>
                </a:solidFill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45920" y="39136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Bảo toàn lịch sử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45920" y="4379976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Rubric đã dùng để chấm không thể sửa đè làm thay đổi kết quả quá khứ.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72784" y="3685032"/>
            <a:ext cx="518464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394106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205472" y="391363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</a:rPr>
              <a:t>Dữ liệu phân tán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205472" y="4379976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Bài nộp, Rubric, điểm và thông báo nằm ở các miền dịch vụ khác nhau.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33272" y="5559552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2D20"/>
                </a:solidFill>
              </a:rPr>
              <a:t>Nếu một mắt xích sai, báo cáo OBE phía cuối có thể “đẹp” nhưng không còn đáng tin.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5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BFD1FF"/>
                </a:solidFill>
              </a:rPr>
              <a:t>CÂU HỎI THIẾT KẾ TRUNG TÂM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104241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Làm thế nào để biến mỗi lần chấm bài thành một bằng chứng chuẩn đầu ra có thể kiểm tra lại?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13232" y="3803904"/>
            <a:ext cx="2404872" cy="310896"/>
          </a:xfrm>
          <a:prstGeom prst="roundRect">
            <a:avLst>
              <a:gd name="adj" fmla="val 50000"/>
            </a:avLst>
          </a:prstGeom>
          <a:solidFill>
            <a:srgbClr val="3C68DD"/>
          </a:solidFill>
          <a:ln w="12700">
            <a:solidFill>
              <a:srgbClr val="3C68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3867912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ĐÚNG PHIÊN BẢN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74720" y="3803904"/>
            <a:ext cx="2404872" cy="310896"/>
          </a:xfrm>
          <a:prstGeom prst="roundRect">
            <a:avLst>
              <a:gd name="adj" fmla="val 50000"/>
            </a:avLst>
          </a:prstGeom>
          <a:solidFill>
            <a:srgbClr val="3C68DD"/>
          </a:solidFill>
          <a:ln w="12700">
            <a:solidFill>
              <a:srgbClr val="3C68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47872" y="3867912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ĐÚNG TIÊU CHÍ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36208" y="3803904"/>
            <a:ext cx="2404872" cy="310896"/>
          </a:xfrm>
          <a:prstGeom prst="roundRect">
            <a:avLst>
              <a:gd name="adj" fmla="val 50000"/>
            </a:avLst>
          </a:prstGeom>
          <a:solidFill>
            <a:srgbClr val="3C68DD"/>
          </a:solidFill>
          <a:ln w="12700">
            <a:solidFill>
              <a:srgbClr val="3C68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3867912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ĐÚNG TRỌNG SỐ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997696" y="3803904"/>
            <a:ext cx="2404872" cy="310896"/>
          </a:xfrm>
          <a:prstGeom prst="roundRect">
            <a:avLst>
              <a:gd name="adj" fmla="val 50000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70848" y="3867912"/>
            <a:ext cx="2258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TRUY NGƯỢC ĐƯỢC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519379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1FF"/>
                </a:solidFill>
              </a:rPr>
              <a:t>Đây là điểm xoay từ “vấn đề” sang “giải pháp”.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04 • GIẢI PHÁP CỐT LÕI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Số hóa Rubric thành “xương sống” của chuỗi bằng chứng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Mỗi kết quả tổng hợp đều phải truy ngược về mức thể hiện đã chọn trên bài làm cụ thể.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153619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" y="248716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56D6"/>
                </a:solidFill>
              </a:rPr>
              <a:t>BÀI LÀM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" y="290779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Submission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21408" y="2834640"/>
            <a:ext cx="338328" cy="0"/>
          </a:xfrm>
          <a:prstGeom prst="line">
            <a:avLst/>
          </a:prstGeom>
          <a:noFill/>
          <a:ln w="25400">
            <a:solidFill>
              <a:srgbClr val="2856D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50592" y="2212848"/>
            <a:ext cx="153619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48716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56D6"/>
                </a:solidFill>
              </a:rPr>
              <a:t>MỨC ĐẠT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90779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Level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05072" y="2834640"/>
            <a:ext cx="338328" cy="0"/>
          </a:xfrm>
          <a:prstGeom prst="line">
            <a:avLst/>
          </a:prstGeom>
          <a:noFill/>
          <a:ln w="25400">
            <a:solidFill>
              <a:srgbClr val="2856D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34256" y="2212848"/>
            <a:ext cx="153619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43984" y="248716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56D6"/>
                </a:solidFill>
              </a:rPr>
              <a:t>TIÊU CHÍ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43984" y="290779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Criterion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88736" y="2834640"/>
            <a:ext cx="338328" cy="0"/>
          </a:xfrm>
          <a:prstGeom prst="line">
            <a:avLst/>
          </a:prstGeom>
          <a:noFill/>
          <a:ln w="25400">
            <a:solidFill>
              <a:srgbClr val="2856D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17920" y="2212848"/>
            <a:ext cx="153619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48716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56D9"/>
                </a:solidFill>
              </a:rPr>
              <a:t>RUBRIC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290779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Version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0" y="2834640"/>
            <a:ext cx="338328" cy="0"/>
          </a:xfrm>
          <a:prstGeom prst="line">
            <a:avLst/>
          </a:prstGeom>
          <a:noFill/>
          <a:ln w="25400">
            <a:solidFill>
              <a:srgbClr val="2856D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01584" y="2212848"/>
            <a:ext cx="153619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11312" y="248716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56D6"/>
                </a:solidFill>
              </a:rPr>
              <a:t>CLO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11312" y="290779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Attainment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656064" y="2834640"/>
            <a:ext cx="338328" cy="0"/>
          </a:xfrm>
          <a:prstGeom prst="line">
            <a:avLst/>
          </a:prstGeom>
          <a:noFill/>
          <a:ln w="25400">
            <a:solidFill>
              <a:srgbClr val="2856D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985248" y="2212848"/>
            <a:ext cx="1536192" cy="1261872"/>
          </a:xfrm>
          <a:prstGeom prst="roundRect">
            <a:avLst>
              <a:gd name="adj" fmla="val 7246"/>
            </a:avLst>
          </a:prstGeom>
          <a:solidFill>
            <a:srgbClr val="E7F8F4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94976" y="248716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BÁO CÁO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94976" y="290779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OBE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78992" y="4343400"/>
            <a:ext cx="384048" cy="384048"/>
          </a:xfrm>
          <a:prstGeom prst="ellipse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441655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72768" y="43159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Cấu trúc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72768" y="473659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Rubric = metadata + criteria + levels + mappings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36592" y="4343400"/>
            <a:ext cx="384048" cy="384048"/>
          </a:xfrm>
          <a:prstGeom prst="ellipse">
            <a:avLst/>
          </a:prstGeom>
          <a:solidFill>
            <a:srgbClr val="7F56D9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441655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43159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Vòng đời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230368" y="473659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Nháp → chờ duyệt → được duyệt → phiên bản mới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94192" y="4343400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94192" y="441655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887968" y="4315968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Truy nguyên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87968" y="4736592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Lưu rubricVersion và kết quả ở mức tiêu chí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6928" y="62819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992A3"/>
                </a:solidFill>
              </a:rPr>
              <a:t>Cơ sở: mô hình Rubric số và yêu cầu truy nguyên — Chương 3, mục 3.2.4.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05 • PHẠM VI HỆ THỐNG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LMS bao phủ vòng đời học tập, nhưng Rubric–OBE là trọng tâm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Các chức năng nền tạo ngữ cảnh; các chức năng đánh giá tạo khác biệt của đề tài.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" y="1847088"/>
            <a:ext cx="2834640" cy="3529584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67085"/>
                </a:solidFill>
              </a:rPr>
              <a:t>NỀN TẢNG LMS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0976" y="26974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Người dùng &amp; phân quyền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50976" y="309981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Học phần &amp; nội dung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50976" y="35021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Điểm danh QR/GPS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50976" y="390448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Bài tập &amp; bài nộp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50976" y="430682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Thi &amp; ngân hàng câu hỏi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50976" y="470916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• Thông báo &amp; trao đổi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58768" y="2980944"/>
            <a:ext cx="731520" cy="1051560"/>
          </a:xfrm>
          <a:prstGeom prst="chevron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19472" y="1755648"/>
            <a:ext cx="6199632" cy="3730752"/>
          </a:xfrm>
          <a:prstGeom prst="roundRect">
            <a:avLst>
              <a:gd name="adj" fmla="val 2941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0096" y="208483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TRỌNG TÂM ĐÁNH GIÁ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58384" y="2743200"/>
            <a:ext cx="2331720" cy="804672"/>
          </a:xfrm>
          <a:prstGeom prst="roundRect">
            <a:avLst>
              <a:gd name="adj" fmla="val 13636"/>
            </a:avLst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29626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01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Quản lý CLO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28432" y="2743200"/>
            <a:ext cx="2331720" cy="804672"/>
          </a:xfrm>
          <a:prstGeom prst="roundRect">
            <a:avLst>
              <a:gd name="adj" fmla="val 13636"/>
            </a:avLst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4736" y="29626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02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13648" y="29443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Thiết kế &amp; duyệt Rubric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58384" y="3840480"/>
            <a:ext cx="2331720" cy="804672"/>
          </a:xfrm>
          <a:prstGeom prst="roundRect">
            <a:avLst>
              <a:gd name="adj" fmla="val 13636"/>
            </a:avLst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04688" y="40599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40416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Chấm theo tiêu chí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28432" y="3840480"/>
            <a:ext cx="2331720" cy="804672"/>
          </a:xfrm>
          <a:prstGeom prst="roundRect">
            <a:avLst>
              <a:gd name="adj" fmla="val 13636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4736" y="405993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13648" y="404164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Tổng hợp &amp; xem OBE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5705856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56D6"/>
                </a:solidFill>
              </a:rPr>
              <a:t>Thông điệp: không trình bày dàn đều mọi chức năng — ưu tiên chuỗi tạo bằng chứng.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" y="62819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992A3"/>
                </a:solidFill>
              </a:rPr>
              <a:t>Cơ sở: docs/use-cases/CHUC_NANG_CHINH_HE_THONG.md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06 • QUY TRÌNH NGHIỆP VỤ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Một vòng đánh giá khép kín từ thiết kế đến cải tiến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Vai trò được tách rõ: thiết kế — phê duyệt — thực hiện — phản hồi — theo dõi.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78992" y="2084832"/>
            <a:ext cx="658368" cy="658368"/>
          </a:xfrm>
          <a:prstGeom prst="ellipse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2860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992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Thiết lập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CLO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55648" y="2414016"/>
            <a:ext cx="795528" cy="0"/>
          </a:xfrm>
          <a:prstGeom prst="line">
            <a:avLst/>
          </a:prstGeom>
          <a:noFill/>
          <a:ln w="3175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971800" y="2084832"/>
            <a:ext cx="658368" cy="658368"/>
          </a:xfrm>
          <a:prstGeom prst="ellipse">
            <a:avLst/>
          </a:prstGeom>
          <a:solidFill>
            <a:srgbClr val="7F56D9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22860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32888" y="29992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Tạo &amp; ánh xạ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Rubric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48456" y="2414016"/>
            <a:ext cx="795528" cy="0"/>
          </a:xfrm>
          <a:prstGeom prst="line">
            <a:avLst/>
          </a:prstGeom>
          <a:noFill/>
          <a:ln w="3175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864608" y="2084832"/>
            <a:ext cx="658368" cy="658368"/>
          </a:xfrm>
          <a:prstGeom prst="ellipse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22860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25696" y="29992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Phê duyệt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phiên bản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541264" y="2414016"/>
            <a:ext cx="795528" cy="0"/>
          </a:xfrm>
          <a:prstGeom prst="line">
            <a:avLst/>
          </a:prstGeom>
          <a:noFill/>
          <a:ln w="3175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57416" y="2084832"/>
            <a:ext cx="658368" cy="6583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57416" y="22860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18504" y="29992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Nộp bài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chấm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34072" y="2414016"/>
            <a:ext cx="795528" cy="0"/>
          </a:xfrm>
          <a:prstGeom prst="line">
            <a:avLst/>
          </a:prstGeom>
          <a:noFill/>
          <a:ln w="3175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650224" y="2084832"/>
            <a:ext cx="658368" cy="65836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50224" y="22860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11312" y="29992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Tính mức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đạt CLO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326880" y="2414016"/>
            <a:ext cx="795528" cy="0"/>
          </a:xfrm>
          <a:prstGeom prst="line">
            <a:avLst/>
          </a:prstGeom>
          <a:noFill/>
          <a:ln w="3175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543032" y="2084832"/>
            <a:ext cx="658368" cy="658368"/>
          </a:xfrm>
          <a:prstGeom prst="ellipse">
            <a:avLst/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43032" y="22860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04120" y="2999232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Báo cáo &amp;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1828"/>
                </a:solidFill>
              </a:rPr>
              <a:t>cải tiến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" y="4242816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4672" y="4242816"/>
            <a:ext cx="91440" cy="960120"/>
          </a:xfrm>
          <a:prstGeom prst="rect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4425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56D6"/>
                </a:solidFill>
              </a:rPr>
              <a:t>GIẢNG VIÊN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60704" y="47548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Thiết kế, giao bài, chấm và phản hồi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33088" y="4242816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33088" y="4242816"/>
            <a:ext cx="91440" cy="960120"/>
          </a:xfrm>
          <a:prstGeom prst="rect">
            <a:avLst/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4425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009"/>
                </a:solidFill>
              </a:rPr>
              <a:t>TRƯỞNG BM / KHOA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47548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Duyệt Rubric, theo dõi dữ liệu OBE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61504" y="4242816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61504" y="4242816"/>
            <a:ext cx="91440" cy="96012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17536" y="44256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D8A"/>
                </a:solidFill>
              </a:rPr>
              <a:t>SINH VIÊN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717536" y="47548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Xem tiêu chuẩn, nộp bài, xem mức đạt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07 • THIẾT KẾ DỮ LIỆU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Rubric không còn là bảng tĩnh — mà là dữ liệu có phiên bản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Đây là cơ chế bảo toàn bằng chứng khi tiêu chí hoặc mức đánh giá thay đổi.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" y="1828800"/>
            <a:ext cx="66294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224028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244144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RUBRIC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61488" y="187452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7F56D9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7568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VERSION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61488" y="288036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308152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VERSION 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F79009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207568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CRITERIA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288036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308152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LEVELS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17720" y="3886200"/>
            <a:ext cx="1417320" cy="621792"/>
          </a:xfrm>
          <a:prstGeom prst="roundRect">
            <a:avLst>
              <a:gd name="adj" fmla="val 17647"/>
            </a:avLst>
          </a:prstGeom>
          <a:solidFill>
            <a:srgbClr val="D92D20"/>
          </a:solidFill>
          <a:ln w="12700">
            <a:solidFill>
              <a:srgbClr val="D92D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90872" y="4087368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CLO MAPPING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95728" y="2551176"/>
            <a:ext cx="365760" cy="-365760"/>
          </a:xfrm>
          <a:prstGeom prst="line">
            <a:avLst/>
          </a:prstGeom>
          <a:noFill/>
          <a:ln w="2032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395728" y="2551176"/>
            <a:ext cx="365760" cy="640080"/>
          </a:xfrm>
          <a:prstGeom prst="line">
            <a:avLst/>
          </a:prstGeom>
          <a:noFill/>
          <a:ln w="2032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87952" y="2185416"/>
            <a:ext cx="429768" cy="0"/>
          </a:xfrm>
          <a:prstGeom prst="line">
            <a:avLst/>
          </a:prstGeom>
          <a:noFill/>
          <a:ln w="2032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187952" y="3191256"/>
            <a:ext cx="429768" cy="0"/>
          </a:xfrm>
          <a:prstGeom prst="line">
            <a:avLst/>
          </a:prstGeom>
          <a:noFill/>
          <a:ln w="2032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87952" y="3191256"/>
            <a:ext cx="429768" cy="1005840"/>
          </a:xfrm>
          <a:prstGeom prst="line">
            <a:avLst/>
          </a:prstGeom>
          <a:noFill/>
          <a:ln w="2032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26680" y="1828800"/>
            <a:ext cx="3520440" cy="3611880"/>
          </a:xfrm>
          <a:prstGeom prst="roundRect">
            <a:avLst>
              <a:gd name="adj" fmla="val 3117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215798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A5E9"/>
                </a:solidFill>
              </a:rPr>
              <a:t>QUY TẮC BẢO TOÀN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101584" y="2788920"/>
            <a:ext cx="237744" cy="23774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01584" y="2825496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503920" y="2761488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Rubric đã dùng để chấm không sửa đè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01584" y="3355848"/>
            <a:ext cx="237744" cy="23774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01584" y="3392424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3920" y="3328416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Thay đổi tạo phiên bản mới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01584" y="3922776"/>
            <a:ext cx="237744" cy="23774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01584" y="3959352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3895344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Kết quả lưu đúng rubricVersion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01584" y="4489704"/>
            <a:ext cx="237744" cy="237744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01584" y="4526280"/>
            <a:ext cx="2377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03920" y="4462272"/>
            <a:ext cx="2331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Mức chọn phải thuộc đúng tiêu chí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66928" y="62819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992A3"/>
                </a:solidFill>
              </a:rPr>
              <a:t>Cơ sở: RubricVersion, CriterionLOMapping, LOAttainmentEvidence trong thiết kế đề xuất.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08 • XỬ LÝ NGHIỆP VỤ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Từ mức Rubric đến phần trăm đạt CLO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Chuẩn hóa điểm tiêu chí, áp dụng trọng số và hệ số ánh xạ; không suy ra CLO chỉ từ điểm tổng.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2084832"/>
            <a:ext cx="18562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3172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Mức được chọn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81635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3 / 4 điểm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23744" y="2505456"/>
            <a:ext cx="329184" cy="420624"/>
          </a:xfrm>
          <a:prstGeom prst="chevron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80360" y="2084832"/>
            <a:ext cx="18562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33172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Chuẩn hóa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990088" y="281635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75%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82312" y="2505456"/>
            <a:ext cx="329184" cy="420624"/>
          </a:xfrm>
          <a:prstGeom prst="chevron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38928" y="2084832"/>
            <a:ext cx="18562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8656" y="233172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× trọng số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48656" y="281635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30%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2505456"/>
            <a:ext cx="329184" cy="420624"/>
          </a:xfrm>
          <a:prstGeom prst="chevron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7496" y="2084832"/>
            <a:ext cx="1856232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07224" y="233172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× ánh xạ CLO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507224" y="281635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CLO2: 0,6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99448" y="2505456"/>
            <a:ext cx="329184" cy="420624"/>
          </a:xfrm>
          <a:prstGeom prst="chevron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56064" y="2084832"/>
            <a:ext cx="1856232" cy="1261872"/>
          </a:xfrm>
          <a:prstGeom prst="roundRect">
            <a:avLst>
              <a:gd name="adj" fmla="val 7246"/>
            </a:avLst>
          </a:prstGeom>
          <a:solidFill>
            <a:srgbClr val="E7F8F4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5792" y="233172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9D8A"/>
                </a:solidFill>
              </a:rPr>
              <a:t>Tổng hợp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765792" y="281635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</a:rPr>
              <a:t>Mức đạt CLO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7552" y="4023360"/>
            <a:ext cx="10131552" cy="1078992"/>
          </a:xfrm>
          <a:prstGeom prst="roundRect">
            <a:avLst>
              <a:gd name="adj" fmla="val 1016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4334256"/>
            <a:ext cx="9372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A(CLO) =  Σ [trọng số tiêu chí × hệ số ánh xạ × % đạt tiêu chí]  /  Σ [trọng số × hệ số]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103120" y="5513832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56D6"/>
                </a:solidFill>
              </a:rPr>
              <a:t>Ba nguyên tắc: xác định • không tính lặp • truy nguyên được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" y="62819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992A3"/>
                </a:solidFill>
              </a:rPr>
              <a:t>Cơ sở: công thức 3.2–3.5 trong CHUONG_3_GIAI_PHAP_HIEU_CHINH.md.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09 • KIẾN TRÚC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Tách theo miền nghiệp vụ để mỗi loại dữ liệu có chủ sở hữu rõ ràng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API Gateway là điểm vào thống nhất; các service trao đổi bằng API và giữ dữ liệu của mình.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554480" cy="3520440"/>
          </a:xfrm>
          <a:prstGeom prst="roundRect">
            <a:avLst>
              <a:gd name="adj" fmla="val 7059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77063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WEB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REACT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496312" y="2971800"/>
            <a:ext cx="594360" cy="685800"/>
          </a:xfrm>
          <a:prstGeom prst="chevron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828800"/>
            <a:ext cx="1572768" cy="3520440"/>
          </a:xfrm>
          <a:prstGeom prst="roundRect">
            <a:avLst>
              <a:gd name="adj" fmla="val 6977"/>
            </a:avLst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770632"/>
            <a:ext cx="1024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API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GATEWAY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504688" y="1755648"/>
            <a:ext cx="19202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14416" y="192024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856D6"/>
                </a:solidFill>
              </a:rPr>
              <a:t>USER SERVICE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14416" y="2212848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DB sở hữu riêng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19472" y="3584448"/>
            <a:ext cx="585216" cy="-1435608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90688" y="1755648"/>
            <a:ext cx="19202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0416" y="1920240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A5E9"/>
                </a:solidFill>
              </a:rPr>
              <a:t>COURSE SERVICE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900416" y="2212848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DB sở hữu riêng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19472" y="3584448"/>
            <a:ext cx="2871216" cy="-1435608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04688" y="3072384"/>
            <a:ext cx="19202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7F56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323697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F56D9"/>
                </a:solidFill>
              </a:rPr>
              <a:t>RUBRIC SERVICE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14416" y="3529584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DB sở hữu riêng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19472" y="3584448"/>
            <a:ext cx="585216" cy="-118872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790688" y="3072384"/>
            <a:ext cx="19202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F790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00416" y="3236976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009"/>
                </a:solidFill>
              </a:rPr>
              <a:t>GRADING SERVICE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900416" y="3529584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DB sở hữu riêng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19472" y="3584448"/>
            <a:ext cx="2871216" cy="-118872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504688" y="4389120"/>
            <a:ext cx="192024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14416" y="455371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9D8A"/>
                </a:solidFill>
              </a:rPr>
              <a:t>NOTIFY SERVICE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14416" y="4846320"/>
            <a:ext cx="1700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DB sở hữu riêng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19472" y="3584448"/>
            <a:ext cx="585216" cy="1197864"/>
          </a:xfrm>
          <a:prstGeom prst="line">
            <a:avLst/>
          </a:prstGeom>
          <a:noFill/>
          <a:ln w="15240">
            <a:solidFill>
              <a:srgbClr val="D9E0EC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85832" y="2423160"/>
            <a:ext cx="1344168" cy="2011680"/>
          </a:xfrm>
          <a:prstGeom prst="roundRect">
            <a:avLst>
              <a:gd name="adj" fmla="val 6803"/>
            </a:avLst>
          </a:prstGeom>
          <a:solidFill>
            <a:srgbClr val="EEF3FF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22992" y="2706624"/>
            <a:ext cx="106984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56D6"/>
                </a:solidFill>
              </a:rPr>
              <a:t>EUREKA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56D6"/>
                </a:solidFill>
              </a:rPr>
              <a:t>JWT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856D6"/>
                </a:solidFill>
              </a:rPr>
              <a:t>LOG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5650992"/>
            <a:ext cx="10058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856D6"/>
                </a:solidFill>
              </a:rPr>
              <a:t>Lợi ích trực tiếp cho bài toán: tách Rubric khỏi điểm, nhưng vẫn liên kết bằng ID và API để bảo toàn chuỗi bằng chứng.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566928" y="62819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992A3"/>
                </a:solidFill>
              </a:rPr>
              <a:t>Cơ sở: kiến trúc 5 service trong compose và tài liệu kiến trúc mục tiêu.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10 • KỊCH BẢN TRÌNH DIỄN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Demo theo một câu chuyện xuyên suốt, không nhảy màn hình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Tình huống: đánh giá bài báo cáo kỹ thuật và xác định mức đạt CLO2 của sinh viên.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1883664"/>
            <a:ext cx="384048" cy="384048"/>
          </a:xfrm>
          <a:prstGeom prst="ellipse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5681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44752" y="18105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Tạo CLO2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44752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Đặt mô tả và ngưỡng đạt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60704" y="2286000"/>
            <a:ext cx="0" cy="457200"/>
          </a:xfrm>
          <a:prstGeom prst="line">
            <a:avLst/>
          </a:prstGeom>
          <a:noFill/>
          <a:ln w="25400">
            <a:solidFill>
              <a:srgbClr val="D9E0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706624"/>
            <a:ext cx="384048" cy="384048"/>
          </a:xfrm>
          <a:prstGeom prst="ellipse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7977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44752" y="263347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Thiết kế Rubric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44752" y="2999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Tiêu chí, mức, trọng số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60704" y="3108960"/>
            <a:ext cx="0" cy="457200"/>
          </a:xfrm>
          <a:prstGeom prst="line">
            <a:avLst/>
          </a:prstGeom>
          <a:noFill/>
          <a:ln w="25400">
            <a:solidFill>
              <a:srgbClr val="D9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529584"/>
            <a:ext cx="384048" cy="384048"/>
          </a:xfrm>
          <a:prstGeom prst="ellipse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027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44752" y="34564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Ánh xạ &amp; duyệt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44752" y="38221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Gắn tiêu chí với CLO2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60704" y="3931920"/>
            <a:ext cx="0" cy="457200"/>
          </a:xfrm>
          <a:prstGeom prst="line">
            <a:avLst/>
          </a:prstGeom>
          <a:noFill/>
          <a:ln w="25400">
            <a:solidFill>
              <a:srgbClr val="D9E0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352544"/>
            <a:ext cx="384048" cy="384048"/>
          </a:xfrm>
          <a:prstGeom prst="ellipse">
            <a:avLst/>
          </a:prstGeom>
          <a:solidFill>
            <a:srgbClr val="2856D6"/>
          </a:solidFill>
          <a:ln w="12700">
            <a:solidFill>
              <a:srgbClr val="2856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2569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44752" y="42793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Chấm bài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44752" y="4645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Chọn mức và nhập phản hồi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60704" y="4754880"/>
            <a:ext cx="0" cy="457200"/>
          </a:xfrm>
          <a:prstGeom prst="line">
            <a:avLst/>
          </a:prstGeom>
          <a:noFill/>
          <a:ln w="25400">
            <a:solidFill>
              <a:srgbClr val="D9E0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175504"/>
            <a:ext cx="384048" cy="38404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524865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44752" y="510235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Xem kết quả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44752" y="54681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Điểm bài + mức đạt CLO2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617720" y="1828800"/>
            <a:ext cx="6492240" cy="3840480"/>
          </a:xfrm>
          <a:prstGeom prst="roundRect">
            <a:avLst>
              <a:gd name="adj" fmla="val 2857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219456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QUY TẮC DEMO 3–5 PHÚT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66360" y="29077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01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05856" y="286207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Chuẩn bị sẵn học phần, sinh viên và bài nộp mẫu.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166360" y="347472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02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05856" y="342900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Chỉ nhập trực tiếp một thay đổi có ý nghĩa.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166360" y="40416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05856" y="399592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Luôn chỉ ra dữ liệu vừa tạo xuất hiện ở bước sau.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166360" y="46085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04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05856" y="4562856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Kết thúc bằng màn hình OBE — quay lại câu hỏi mở đầu.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11 • KẾT QUẢ &amp; GIỚI HẠN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Phân biệt rõ phần đã có và phần cần hoàn thiện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Trình bày trung thực giúp giá trị của đóng góp kỹ thuật rõ hơn.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66360" cy="3611880"/>
          </a:xfrm>
          <a:prstGeom prst="roundRect">
            <a:avLst>
              <a:gd name="adj" fmla="val 3038"/>
            </a:avLst>
          </a:prstGeom>
          <a:solidFill>
            <a:srgbClr val="EAF8F4"/>
          </a:solidFill>
          <a:ln w="12700">
            <a:solidFill>
              <a:srgbClr val="B9E5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1762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9D8A"/>
                </a:solidFill>
              </a:rPr>
              <a:t>ĐÃ CÓ NỀN TẢNG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70432" y="27614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7432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Microservice cho Rubric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170432" y="320040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318211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CRUD Rubric–criteria–level–CLO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70432" y="3639312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362102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Đồng bộ ma trận theo transaction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70432" y="407822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405993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Giao tiếp Rubric ↔ Grading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70432" y="451713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554480" y="449884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Giao diện CLO / Rubric / OBE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81928" y="1828800"/>
            <a:ext cx="5166360" cy="3611880"/>
          </a:xfrm>
          <a:prstGeom prst="roundRect">
            <a:avLst>
              <a:gd name="adj" fmla="val 3038"/>
            </a:avLst>
          </a:prstGeom>
          <a:solidFill>
            <a:srgbClr val="FFF5E8"/>
          </a:solidFill>
          <a:ln w="12700">
            <a:solidFill>
              <a:srgbClr val="F8D6A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217627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9009"/>
                </a:solidFill>
              </a:rPr>
              <a:t>CẦN HOÀN THIỆN / KIỂM CHỨNG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711696" y="276148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009"/>
                </a:solidFill>
              </a:rPr>
              <a:t>→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14032" y="274320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Thuật toán tính điểm Rubric end-to-end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711696" y="32004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009"/>
                </a:solidFill>
              </a:rPr>
              <a:t>→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14032" y="3182112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Phiên bản hóa đầy đủ trong mọi luồng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11696" y="363931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009"/>
                </a:solidFill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14032" y="362102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Dữ liệu kiểm thử OBE thực tế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11696" y="407822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009"/>
                </a:solidFill>
              </a:rPr>
              <a:t>→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14032" y="405993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Kiểm thử tải và lỗi liên service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11696" y="451713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009"/>
                </a:solidFill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14032" y="4498848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1828"/>
                </a:solidFill>
              </a:rPr>
              <a:t>Đo tác động với người dùng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508760" y="5742432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2D20"/>
                </a:solidFill>
              </a:rPr>
              <a:t>Không đánh đồng “thiết kế đề xuất” với “đã triển khai hoàn chỉnh”.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6928" y="6281928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8992A3"/>
                </a:solidFill>
              </a:rPr>
              <a:t>Đối chiếu: RUBRIC_TECHNOLOGY_AND_ALGORITHMS.md và tài liệu giải pháp hiệu chỉnh.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2856D6"/>
                </a:solidFill>
              </a:rPr>
              <a:t>12 • ĐÓNG GÓP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</a:rPr>
              <a:t>Giá trị của đề tài nằm ở chuỗi liên kết, không ở từng màn hình riêng lẻ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5216" y="1252728"/>
            <a:ext cx="10561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</a:rPr>
              <a:t>Bốn đóng góp nên được trình bày như một hệ thống thống nhất.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847088"/>
            <a:ext cx="51389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1214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856D6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64792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Mô hình Rubric số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64792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Tiêu chí, mức, trọng số, ánh xạ, phiên bản và trạng thái.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45352" y="1847088"/>
            <a:ext cx="51389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1214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9D8A"/>
                </a:solidFill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296912" y="20848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Chuỗi bằng chứng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96912" y="2560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Bài làm → kết quả tiêu chí → mức đạt CLO có thể truy nguyên.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3232" y="3675888"/>
            <a:ext cx="51389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39502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9009"/>
                </a:solidFill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64792" y="3913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Quy trình có kiểm soát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64792" y="4389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Thiết kế, phê duyệt, công bố, chấm và phản hồi theo vai trò.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45352" y="3675888"/>
            <a:ext cx="5138928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395020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56D9"/>
                </a:solidFill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96912" y="39136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828"/>
                </a:solidFill>
              </a:rPr>
              <a:t>Kiến trúc mở rộng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96912" y="4389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</a:rPr>
              <a:t>Tách miền người dùng, học phần, Rubric, chấm điểm và thông báo.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463040" y="5596128"/>
            <a:ext cx="9189720" cy="457200"/>
          </a:xfrm>
          <a:prstGeom prst="roundRect">
            <a:avLst>
              <a:gd name="adj" fmla="val 24000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91640" y="5733288"/>
            <a:ext cx="8732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Từ quản lý học tập → quản lý bằng chứng học tập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4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" y="65836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14233A"/>
          </a:solidFill>
          <a:ln w="12700">
            <a:solidFill>
              <a:srgbClr val="1423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86384" y="722376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E9"/>
                </a:solidFill>
              </a:rPr>
              <a:t>KẾT LUẬN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13232" y="1371600"/>
            <a:ext cx="6537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Hệ thống không chỉ trả lời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“sinh viên được bao nhiêu điểm?”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E4"/>
                </a:solidFill>
              </a:rPr>
              <a:t>Mà còn trả lời: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8096" y="3493008"/>
            <a:ext cx="402336" cy="0"/>
          </a:xfrm>
          <a:prstGeom prst="line">
            <a:avLst/>
          </a:prstGeom>
          <a:noFill/>
          <a:ln w="508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3364992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Đạt chuẩn đầu ra nào?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8096" y="4059936"/>
            <a:ext cx="402336" cy="0"/>
          </a:xfrm>
          <a:prstGeom prst="line">
            <a:avLst/>
          </a:prstGeom>
          <a:noFill/>
          <a:ln w="50800">
            <a:solidFill>
              <a:srgbClr val="0F9D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53312" y="3931920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Ở mức nào?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" y="4626864"/>
            <a:ext cx="402336" cy="0"/>
          </a:xfrm>
          <a:prstGeom prst="line">
            <a:avLst/>
          </a:prstGeom>
          <a:noFill/>
          <a:ln w="50800">
            <a:solidFill>
              <a:srgbClr val="0F9D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498848"/>
            <a:ext cx="5074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Dựa trên tiêu chí và bằng chứng nào?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35240" y="128016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14233A"/>
          </a:solidFill>
          <a:ln w="12700">
            <a:solidFill>
              <a:srgbClr val="142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1488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EA5E9"/>
                </a:solidFill>
              </a:rPr>
              <a:t>Q&amp;A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8028432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Xin cảm ơn Hội đồng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28432" y="43708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2BF"/>
                </a:solidFill>
              </a:rPr>
              <a:t>[email / mã QR demo nếu cần]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60533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2BF"/>
                </a:solidFill>
              </a:rPr>
              <a:t>Thông điệp chốt: Rubric là cầu nối giữa hoạt động đánh giá và dữ liệu OBE.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HCMUAF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LMS hỗ trợ đánh giá theo Rubric gắn với chuẩn đầu ra</dc:title>
  <dc:subject>Bố cục thuyết trình đồ án LMS hỗ trợ Rubric và OBE</dc:subject>
  <dc:creator>LMS Rubric project</dc:creator>
  <cp:lastModifiedBy>LMS Rubric project</cp:lastModifiedBy>
  <cp:revision>1</cp:revision>
  <dcterms:created xsi:type="dcterms:W3CDTF">2026-08-18T08:06:56Z</dcterms:created>
  <dcterms:modified xsi:type="dcterms:W3CDTF">2026-08-18T08:06:56Z</dcterms:modified>
</cp:coreProperties>
</file>